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Montserrat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517406-1EB9-4D82-AD3D-F0F3F1789A69}">
  <a:tblStyle styleId="{2E517406-1EB9-4D82-AD3D-F0F3F1789A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MontserratMedium-bold.fntdata"/><Relationship Id="rId23" Type="http://schemas.openxmlformats.org/officeDocument/2006/relationships/font" Target="fonts/Montserrat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Medium-boldItalic.fntdata"/><Relationship Id="rId25" Type="http://schemas.openxmlformats.org/officeDocument/2006/relationships/font" Target="fonts/Montserrat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MontserratSemiBold-regular.fntdata"/><Relationship Id="rId14" Type="http://schemas.openxmlformats.org/officeDocument/2006/relationships/slide" Target="slides/slide8.xml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19" Type="http://schemas.openxmlformats.org/officeDocument/2006/relationships/font" Target="fonts/Montserrat-regular.fntdata"/><Relationship Id="rId18" Type="http://schemas.openxmlformats.org/officeDocument/2006/relationships/font" Target="fonts/Montserrat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e3869773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e3869773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e3869773e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e3869773e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e3869773e9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e3869773e9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1c84cba73_1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1c84cba73_1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perform the experiments, I use a Google colab notebook, the pro version, and an L4 GPU for runtime. A variety of python packages are used, </a:t>
            </a:r>
            <a:r>
              <a:rPr lang="en"/>
              <a:t>including</a:t>
            </a:r>
            <a:r>
              <a:rPr lang="en"/>
              <a:t> Keras and PyTorch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Kaggle training dataset is composed of 10k samples of math questions, each labelled with one of eight math topics, such as algebra, geometry, and calculus. </a:t>
            </a:r>
            <a:r>
              <a:rPr lang="en">
                <a:solidFill>
                  <a:schemeClr val="dk1"/>
                </a:solidFill>
              </a:rPr>
              <a:t>EDA is performed to select hyperparameters for vectorization and BERT embedding.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study uses 10+ experiments that explore varying neural network architectures, including LSTM, BERT, and MathBERT.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Short Term Memory (LSTM) is an advanced recurrent </a:t>
            </a:r>
            <a:r>
              <a:rPr lang="en"/>
              <a:t>neural network used for processing sequential data like text, and here is used with vectorization as a benchmark before applying BERT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 which stands for bidirectional encoder representations from Transformer, which at a high level uses bidirectional training, encoder-only Transformer architecture, and masking to understand natural language.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MathBERT uses the same architecture as BERT, but is pretrained on K-12 math problems.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defc2170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defc2170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I’ve included the results from a handful of experiments performed.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simple LSTM architecture is used as a baseline. We can see that accuracy is at 0.73, though the percent difference in validation and training accuracy shows strong overfit.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following line shows the most complex LSTM attempted thus far. Accuracy decreased to mitigate model overfitting.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 and MathBERT embeddings were passed into a LSTM model next. Accuracy is comparable to the very first model, and overfit is much better.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 when fine tuned on the Kaggle dataset is used, giving us the best test accuracy. However, the fine tuned model overfits on the training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fine-tuned MathBERT is improved over the LSTM attempts, the fine-tuned BERT still outperforms it, surprisingly.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61fcaab94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61fcaab94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the results so far, the fine-tuned BERT model is the current recommendation to management.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selected </a:t>
            </a:r>
            <a:r>
              <a:rPr lang="en">
                <a:solidFill>
                  <a:schemeClr val="dk1"/>
                </a:solidFill>
              </a:rPr>
              <a:t>model had the highest accuracy at 83%, a 10 point increase over the LSTM model with the highest accuracy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However, the current model appears to overfit, and further optimization over hyperparameters like learning rate or dropout rate can be attempted.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downside of using a fine-tuned model is that the time to train is longer compared to other methods, and different GPU runtimes can be tested to address to this.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for data augmentation to address class imbalance may  also prove fruitful, and other machine learning methods for classification like XGBOOST may show promise.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1fcaab940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61fcaab940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df363c4a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df363c4a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0125" y="315206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None/>
              <a:defRPr sz="23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1127475" y="1080425"/>
            <a:ext cx="6945900" cy="11745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b="1" sz="5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558600" y="-6725"/>
            <a:ext cx="0" cy="14937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780100" y="455625"/>
            <a:ext cx="5290200" cy="8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sz="24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sz="24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sz="24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49450" y="252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8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sz="24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11"/>
          <p:cNvSpPr txBox="1"/>
          <p:nvPr>
            <p:ph idx="2"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sz="24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2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sz="24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/>
        </p:nvSpPr>
        <p:spPr>
          <a:xfrm>
            <a:off x="315775" y="988550"/>
            <a:ext cx="848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233400" y="755125"/>
            <a:ext cx="8484900" cy="39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  <a:defRPr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12" y="164300"/>
            <a:ext cx="7399500" cy="57000"/>
          </a:xfrm>
          <a:prstGeom prst="rect">
            <a:avLst/>
          </a:prstGeom>
          <a:gradFill>
            <a:gsLst>
              <a:gs pos="0">
                <a:srgbClr val="662E91">
                  <a:alpha val="65882"/>
                </a:srgbClr>
              </a:gs>
              <a:gs pos="100000">
                <a:srgbClr val="F25763">
                  <a:alpha val="74901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sz="24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i.org/10.18653/v1/2023.findings-acl.137" TargetMode="External"/><Relationship Id="rId4" Type="http://schemas.openxmlformats.org/officeDocument/2006/relationships/hyperlink" Target="https://www.sciencedirect.com/science/article/pii/S187705092301108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42100" y="1465575"/>
            <a:ext cx="8176200" cy="11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Evaluating Neural Network Approaches for Mathematical Problem Classification, with Applications in Auto-Tagging for Education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232500" y="3355538"/>
            <a:ext cx="86790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028">
                <a:solidFill>
                  <a:schemeClr val="dk1"/>
                </a:solidFill>
              </a:rPr>
              <a:t>Soraya Karimi Butler</a:t>
            </a:r>
            <a:endParaRPr sz="2028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028">
                <a:solidFill>
                  <a:schemeClr val="dk1"/>
                </a:solidFill>
              </a:rPr>
              <a:t>MSDS 458 AI &amp; Deep Learning</a:t>
            </a:r>
            <a:endParaRPr sz="2028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028">
                <a:solidFill>
                  <a:schemeClr val="dk1"/>
                </a:solidFill>
              </a:rPr>
              <a:t>March 10, 2026</a:t>
            </a:r>
            <a:endParaRPr sz="2028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8801750" y="4765600"/>
            <a:ext cx="455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- Business Context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148250" y="961700"/>
            <a:ext cx="88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94850" y="985525"/>
            <a:ext cx="623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chemeClr val="lt1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Auto-tagging in education automatically assigns tags to large volumes of educational content.</a:t>
            </a:r>
            <a:endParaRPr sz="1800">
              <a:highlight>
                <a:schemeClr val="lt1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325675" y="2176981"/>
            <a:ext cx="566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chemeClr val="lt1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Utilizes AI and NLP for pedagogical alignment, question management, and recommendations</a:t>
            </a:r>
            <a:endParaRPr sz="1800">
              <a:highlight>
                <a:schemeClr val="lt1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5" name="Google Shape;75;p15" title="antony-hyson-seltran-7RgWuLlea24-unsplash.jpg"/>
          <p:cNvPicPr preferRelativeResize="0"/>
          <p:nvPr/>
        </p:nvPicPr>
        <p:blipFill rotWithShape="1">
          <a:blip r:embed="rId3">
            <a:alphaModFix/>
          </a:blip>
          <a:srcRect b="8977" l="0" r="0" t="8969"/>
          <a:stretch/>
        </p:blipFill>
        <p:spPr>
          <a:xfrm>
            <a:off x="6410625" y="1011088"/>
            <a:ext cx="2315400" cy="2533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325675" y="3368450"/>
            <a:ext cx="623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chemeClr val="lt1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Auto-tagging is especially challenging for math problems, due to complex structures and semantics</a:t>
            </a:r>
            <a:endParaRPr sz="1800">
              <a:highlight>
                <a:schemeClr val="lt1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2400" y="4107350"/>
            <a:ext cx="2620671" cy="73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2145" y="4133413"/>
            <a:ext cx="1454650" cy="67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 Definition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4" name="Google Shape;84;p16"/>
          <p:cNvSpPr/>
          <p:nvPr/>
        </p:nvSpPr>
        <p:spPr>
          <a:xfrm>
            <a:off x="646575" y="3268175"/>
            <a:ext cx="3017100" cy="1250400"/>
          </a:xfrm>
          <a:prstGeom prst="chevron">
            <a:avLst>
              <a:gd fmla="val 50000" name="adj"/>
            </a:avLst>
          </a:prstGeom>
          <a:solidFill>
            <a:schemeClr val="accent6"/>
          </a:solidFill>
          <a:ln cap="flat" cmpd="sng" w="109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225" lIns="105225" spcFirstLastPara="1" rIns="105225" wrap="square" tIns="10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3108750" y="3268175"/>
            <a:ext cx="3017100" cy="1250400"/>
          </a:xfrm>
          <a:prstGeom prst="chevron">
            <a:avLst>
              <a:gd fmla="val 50000" name="adj"/>
            </a:avLst>
          </a:prstGeom>
          <a:solidFill>
            <a:schemeClr val="accent6"/>
          </a:solidFill>
          <a:ln cap="flat" cmpd="sng" w="109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225" lIns="105225" spcFirstLastPara="1" rIns="105225" wrap="square" tIns="10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5570925" y="3268175"/>
            <a:ext cx="2933400" cy="1250400"/>
          </a:xfrm>
          <a:prstGeom prst="chevron">
            <a:avLst>
              <a:gd fmla="val 50000" name="adj"/>
            </a:avLst>
          </a:prstGeom>
          <a:solidFill>
            <a:schemeClr val="accent6"/>
          </a:solidFill>
          <a:ln cap="flat" cmpd="sng" w="109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225" lIns="105225" spcFirstLastPara="1" rIns="105225" wrap="square" tIns="10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3600567" y="3458276"/>
            <a:ext cx="2310600" cy="9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225" lIns="105225" spcFirstLastPara="1" rIns="105225" wrap="square" tIns="105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1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Evaluate AI &amp; Deep Learning Approaches</a:t>
            </a:r>
            <a:endParaRPr b="1" sz="161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6125875" y="3415018"/>
            <a:ext cx="2152800" cy="9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225" lIns="105225" spcFirstLastPara="1" rIns="105225" wrap="square" tIns="105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1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Assess “best” model feasibility in production</a:t>
            </a:r>
            <a:endParaRPr b="1" sz="161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1075282" y="3539077"/>
            <a:ext cx="23106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225" lIns="105225" spcFirstLastPara="1" rIns="105225" wrap="square" tIns="105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1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Explore Sample Dataset</a:t>
            </a:r>
            <a:endParaRPr b="1" sz="161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1151725" y="876175"/>
            <a:ext cx="6446700" cy="231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 Medium"/>
                <a:ea typeface="Montserrat Medium"/>
                <a:cs typeface="Montserrat Medium"/>
                <a:sym typeface="Montserrat Medium"/>
              </a:rPr>
              <a:t>Using Kaggle Dataset KAChallenges Series 1: Classifying Math Problems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 Medium"/>
                <a:ea typeface="Montserrat Medium"/>
                <a:cs typeface="Montserrat Medium"/>
                <a:sym typeface="Montserrat Medium"/>
              </a:rPr>
              <a:t>Evaluate feasibility for math text topic classification for application in auto-tagging for education.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 Medium"/>
                <a:ea typeface="Montserrat Medium"/>
                <a:cs typeface="Montserrat Medium"/>
                <a:sym typeface="Montserrat Medium"/>
              </a:rPr>
              <a:t>What is the best model from experimentation, and would it realistically be effective in production?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/>
          <p:nvPr/>
        </p:nvSpPr>
        <p:spPr>
          <a:xfrm>
            <a:off x="708355" y="892949"/>
            <a:ext cx="59400" cy="15807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0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25" lIns="96925" spcFirstLastPara="1" rIns="96925" wrap="square" tIns="9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4"/>
          </a:p>
        </p:txBody>
      </p:sp>
      <p:sp>
        <p:nvSpPr>
          <p:cNvPr id="96" name="Google Shape;96;p17"/>
          <p:cNvSpPr/>
          <p:nvPr/>
        </p:nvSpPr>
        <p:spPr>
          <a:xfrm>
            <a:off x="625175" y="1246848"/>
            <a:ext cx="225900" cy="222900"/>
          </a:xfrm>
          <a:prstGeom prst="ellipse">
            <a:avLst/>
          </a:prstGeom>
          <a:solidFill>
            <a:srgbClr val="FFFFFF"/>
          </a:solidFill>
          <a:ln cap="flat" cmpd="sng" w="30300">
            <a:solidFill>
              <a:srgbClr val="D5A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25" lIns="96925" spcFirstLastPara="1" rIns="96925" wrap="square" tIns="9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4"/>
          </a:p>
        </p:txBody>
      </p:sp>
      <p:sp>
        <p:nvSpPr>
          <p:cNvPr id="97" name="Google Shape;97;p17"/>
          <p:cNvSpPr/>
          <p:nvPr/>
        </p:nvSpPr>
        <p:spPr>
          <a:xfrm>
            <a:off x="625175" y="2473536"/>
            <a:ext cx="225900" cy="222900"/>
          </a:xfrm>
          <a:prstGeom prst="ellipse">
            <a:avLst/>
          </a:prstGeom>
          <a:solidFill>
            <a:srgbClr val="FFFFFF"/>
          </a:solidFill>
          <a:ln cap="flat" cmpd="sng" w="303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25" lIns="96925" spcFirstLastPara="1" rIns="96925" wrap="square" tIns="9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4"/>
          </a:p>
        </p:txBody>
      </p:sp>
      <p:sp>
        <p:nvSpPr>
          <p:cNvPr id="98" name="Google Shape;98;p17"/>
          <p:cNvSpPr txBox="1"/>
          <p:nvPr/>
        </p:nvSpPr>
        <p:spPr>
          <a:xfrm>
            <a:off x="1090399" y="2273274"/>
            <a:ext cx="2139600" cy="1134900"/>
          </a:xfrm>
          <a:prstGeom prst="rect">
            <a:avLst/>
          </a:prstGeom>
          <a:solidFill>
            <a:schemeClr val="accent6"/>
          </a:solidFill>
          <a:ln cap="flat" cmpd="sng" w="243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6775" lIns="116775" spcFirstLastPara="1" rIns="116775" wrap="square" tIns="11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</a:pPr>
            <a:r>
              <a:t/>
            </a:r>
            <a:endParaRPr b="1" sz="178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1100474" y="970749"/>
            <a:ext cx="2139600" cy="1069800"/>
          </a:xfrm>
          <a:prstGeom prst="rect">
            <a:avLst/>
          </a:prstGeom>
          <a:solidFill>
            <a:srgbClr val="D5A6BD"/>
          </a:solidFill>
          <a:ln cap="flat" cmpd="sng" w="21075">
            <a:solidFill>
              <a:srgbClr val="D5A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125" lIns="101125" spcFirstLastPara="1" rIns="101125" wrap="square" tIns="101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7"/>
              <a:buFont typeface="Arial"/>
              <a:buNone/>
            </a:pPr>
            <a:r>
              <a:t/>
            </a:r>
            <a:endParaRPr b="1" sz="154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1100557" y="3515238"/>
            <a:ext cx="2139600" cy="1190700"/>
          </a:xfrm>
          <a:prstGeom prst="rect">
            <a:avLst/>
          </a:prstGeom>
          <a:solidFill>
            <a:srgbClr val="662E91"/>
          </a:solidFill>
          <a:ln cap="flat" cmpd="sng" w="26750">
            <a:solidFill>
              <a:srgbClr val="662E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8450" lIns="128450" spcFirstLastPara="1" rIns="128450" wrap="square" tIns="128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5"/>
              <a:buFont typeface="Arial"/>
              <a:buNone/>
            </a:pPr>
            <a:r>
              <a:t/>
            </a:r>
            <a:endParaRPr b="1" sz="196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708355" y="2696506"/>
            <a:ext cx="59400" cy="11439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10100">
            <a:solidFill>
              <a:srgbClr val="662E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25" lIns="96925" spcFirstLastPara="1" rIns="96925" wrap="square" tIns="9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4"/>
          </a:p>
        </p:txBody>
      </p:sp>
      <p:sp>
        <p:nvSpPr>
          <p:cNvPr id="102" name="Google Shape;102;p17"/>
          <p:cNvSpPr/>
          <p:nvPr/>
        </p:nvSpPr>
        <p:spPr>
          <a:xfrm>
            <a:off x="708351" y="3840350"/>
            <a:ext cx="59400" cy="968100"/>
          </a:xfrm>
          <a:prstGeom prst="roundRect">
            <a:avLst>
              <a:gd fmla="val 16667" name="adj"/>
            </a:avLst>
          </a:prstGeom>
          <a:solidFill>
            <a:srgbClr val="662E91"/>
          </a:solidFill>
          <a:ln cap="flat" cmpd="sng" w="10100">
            <a:solidFill>
              <a:srgbClr val="662E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25" lIns="96925" spcFirstLastPara="1" rIns="96925" wrap="square" tIns="9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4"/>
          </a:p>
        </p:txBody>
      </p:sp>
      <p:sp>
        <p:nvSpPr>
          <p:cNvPr id="103" name="Google Shape;103;p17"/>
          <p:cNvSpPr/>
          <p:nvPr/>
        </p:nvSpPr>
        <p:spPr>
          <a:xfrm>
            <a:off x="625175" y="3700206"/>
            <a:ext cx="225900" cy="222900"/>
          </a:xfrm>
          <a:prstGeom prst="ellipse">
            <a:avLst/>
          </a:prstGeom>
          <a:solidFill>
            <a:srgbClr val="FFFFFF"/>
          </a:solidFill>
          <a:ln cap="flat" cmpd="sng" w="30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25" lIns="96925" spcFirstLastPara="1" rIns="96925" wrap="square" tIns="9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4"/>
          </a:p>
        </p:txBody>
      </p:sp>
      <p:sp>
        <p:nvSpPr>
          <p:cNvPr id="104" name="Google Shape;104;p17"/>
          <p:cNvSpPr txBox="1"/>
          <p:nvPr/>
        </p:nvSpPr>
        <p:spPr>
          <a:xfrm>
            <a:off x="148250" y="221300"/>
            <a:ext cx="80076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2E9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Methodology</a:t>
            </a:r>
            <a:endParaRPr sz="2400">
              <a:solidFill>
                <a:srgbClr val="662E9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3252551" y="1134499"/>
            <a:ext cx="53991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25" lIns="96925" spcFirstLastPara="1" rIns="96925" wrap="square" tIns="969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 Medium"/>
                <a:ea typeface="Montserrat Medium"/>
                <a:cs typeface="Montserrat Medium"/>
                <a:sym typeface="Montserrat Medium"/>
              </a:rPr>
              <a:t>Google Colab Notebook Pro, L4 GPU, Keras, PyTorch</a:t>
            </a:r>
            <a:endParaRPr b="1" sz="127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353051" y="2273274"/>
            <a:ext cx="51981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25" lIns="96925" spcFirstLastPara="1" rIns="96925" wrap="square" tIns="969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Perform EDA over Kaggle Dataset KAChallenges Series 1: Classifying Math Problems, to classify math text into 8 topics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3427000" y="3736349"/>
            <a:ext cx="5559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25" lIns="96925" spcFirstLastPara="1" rIns="96925" wrap="square" tIns="9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 varying architectures for LSTM with and without BERT/MathBERT Embeddings, Fine-Tuned BERT</a:t>
            </a:r>
            <a:endParaRPr sz="1800">
              <a:solidFill>
                <a:srgbClr val="662E9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127" y="2337677"/>
            <a:ext cx="1590290" cy="10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2750" y="3796025"/>
            <a:ext cx="1935200" cy="62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2600" y="1079665"/>
            <a:ext cx="1935200" cy="859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18"/>
          <p:cNvGraphicFramePr/>
          <p:nvPr/>
        </p:nvGraphicFramePr>
        <p:xfrm>
          <a:off x="284325" y="9098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{2E517406-1EB9-4D82-AD3D-F0F3F1789A69}</a:tableStyleId>
              </a:tblPr>
              <a:tblGrid>
                <a:gridCol w="2015900"/>
                <a:gridCol w="2015900"/>
                <a:gridCol w="2015900"/>
                <a:gridCol w="2015900"/>
              </a:tblGrid>
              <a:tr h="46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 Accuracy</a:t>
                      </a:r>
                      <a:endParaRPr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55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 Loss</a:t>
                      </a:r>
                      <a:endParaRPr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55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 Difference, Val vs Training Accuracy @ last epoch</a:t>
                      </a:r>
                      <a:endParaRPr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5598"/>
                    </a:solidFill>
                  </a:tcPr>
                </a:tc>
              </a:tr>
              <a:tr h="31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LSTM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B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1.149</a:t>
                      </a:r>
                      <a:endParaRPr b="1"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22.42%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LSTM, Bidirectional, L2 Regularization, Dropout</a:t>
                      </a:r>
                      <a:endParaRPr b="1" sz="11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B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1.33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-5.89%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LSTM, Bidirectional, L2 Regularization, Dropout,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BERT</a:t>
                      </a:r>
                      <a:endParaRPr b="1" sz="11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B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0.978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-15.91%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LSTM, Bidirectional, L2 Regularization, Dropout,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MathBERT</a:t>
                      </a:r>
                      <a:endParaRPr b="1" sz="11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B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1.06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-8.68%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Fine-Tuned BERT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B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38761D"/>
                          </a:solidFill>
                        </a:rPr>
                        <a:t>0.832</a:t>
                      </a:r>
                      <a:endParaRPr b="1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38761D"/>
                          </a:solidFill>
                        </a:rPr>
                        <a:t>0.568</a:t>
                      </a:r>
                      <a:endParaRPr b="1" sz="1200">
                        <a:solidFill>
                          <a:srgbClr val="38761D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38761D"/>
                          </a:solidFill>
                        </a:rPr>
                        <a:t>12.03%</a:t>
                      </a:r>
                      <a:endParaRPr b="1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Fine-Tuned MathBERT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B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0.809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5774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12.47%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" name="Google Shape;116;p18"/>
          <p:cNvSpPr txBox="1"/>
          <p:nvPr>
            <p:ph type="title"/>
          </p:nvPr>
        </p:nvSpPr>
        <p:spPr>
          <a:xfrm>
            <a:off x="148250" y="221300"/>
            <a:ext cx="83358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Results (Select Experiments)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9"/>
          <p:cNvGrpSpPr/>
          <p:nvPr/>
        </p:nvGrpSpPr>
        <p:grpSpPr>
          <a:xfrm>
            <a:off x="3359450" y="2190194"/>
            <a:ext cx="2143425" cy="1784912"/>
            <a:chOff x="3359988" y="1795138"/>
            <a:chExt cx="2143425" cy="2763450"/>
          </a:xfrm>
        </p:grpSpPr>
        <p:sp>
          <p:nvSpPr>
            <p:cNvPr id="122" name="Google Shape;122;p19"/>
            <p:cNvSpPr/>
            <p:nvPr/>
          </p:nvSpPr>
          <p:spPr>
            <a:xfrm>
              <a:off x="3359988" y="1848988"/>
              <a:ext cx="2088900" cy="2709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3414513" y="1795138"/>
              <a:ext cx="2088900" cy="2709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" name="Google Shape;124;p19"/>
          <p:cNvGrpSpPr/>
          <p:nvPr/>
        </p:nvGrpSpPr>
        <p:grpSpPr>
          <a:xfrm>
            <a:off x="704099" y="2190011"/>
            <a:ext cx="2099270" cy="1784912"/>
            <a:chOff x="581463" y="1768213"/>
            <a:chExt cx="2143425" cy="2763450"/>
          </a:xfrm>
        </p:grpSpPr>
        <p:sp>
          <p:nvSpPr>
            <p:cNvPr id="125" name="Google Shape;125;p19"/>
            <p:cNvSpPr/>
            <p:nvPr/>
          </p:nvSpPr>
          <p:spPr>
            <a:xfrm>
              <a:off x="581463" y="1822063"/>
              <a:ext cx="2088900" cy="2709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635988" y="1768213"/>
              <a:ext cx="2088900" cy="2709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" name="Google Shape;127;p19"/>
          <p:cNvSpPr txBox="1"/>
          <p:nvPr/>
        </p:nvSpPr>
        <p:spPr>
          <a:xfrm>
            <a:off x="798425" y="2285500"/>
            <a:ext cx="195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2E91"/>
                </a:solidFill>
                <a:latin typeface="Montserrat"/>
                <a:ea typeface="Montserrat"/>
                <a:cs typeface="Montserrat"/>
                <a:sym typeface="Montserrat"/>
              </a:rPr>
              <a:t>Identify Relevant Metrics</a:t>
            </a:r>
            <a:endParaRPr b="1">
              <a:solidFill>
                <a:srgbClr val="662E9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3463613" y="2310300"/>
            <a:ext cx="195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Optimizing Current Solutions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6750888" y="2720838"/>
            <a:ext cx="16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62E9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1545400" y="1911086"/>
            <a:ext cx="460800" cy="4551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4222825" y="1911074"/>
            <a:ext cx="460800" cy="4551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1468325" y="1938525"/>
            <a:ext cx="6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4145725" y="1938513"/>
            <a:ext cx="6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34" name="Google Shape;134;p19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to Management</a:t>
            </a:r>
            <a:endParaRPr/>
          </a:p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311700" y="115247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Fine-Tuned BERT Model</a:t>
            </a:r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3609938" y="2856950"/>
            <a:ext cx="1692600" cy="14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 with different GPUs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Address Overfit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37" name="Google Shape;137;p19"/>
          <p:cNvGrpSpPr/>
          <p:nvPr/>
        </p:nvGrpSpPr>
        <p:grpSpPr>
          <a:xfrm>
            <a:off x="6109099" y="2190059"/>
            <a:ext cx="2099270" cy="1784912"/>
            <a:chOff x="581463" y="1768213"/>
            <a:chExt cx="2143425" cy="2763450"/>
          </a:xfrm>
        </p:grpSpPr>
        <p:sp>
          <p:nvSpPr>
            <p:cNvPr id="138" name="Google Shape;138;p19"/>
            <p:cNvSpPr/>
            <p:nvPr/>
          </p:nvSpPr>
          <p:spPr>
            <a:xfrm>
              <a:off x="581463" y="1822063"/>
              <a:ext cx="2088900" cy="2709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635988" y="1768213"/>
              <a:ext cx="2088900" cy="2709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9"/>
          <p:cNvSpPr txBox="1"/>
          <p:nvPr/>
        </p:nvSpPr>
        <p:spPr>
          <a:xfrm>
            <a:off x="6206550" y="2310300"/>
            <a:ext cx="195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2E91"/>
                </a:solidFill>
                <a:latin typeface="Montserrat"/>
                <a:ea typeface="Montserrat"/>
                <a:cs typeface="Montserrat"/>
                <a:sym typeface="Montserrat"/>
              </a:rPr>
              <a:t>Exploring New Solutions</a:t>
            </a:r>
            <a:endParaRPr b="1">
              <a:solidFill>
                <a:srgbClr val="662E9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6950400" y="1911086"/>
            <a:ext cx="460800" cy="4551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6873325" y="1938525"/>
            <a:ext cx="6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6370750" y="2793950"/>
            <a:ext cx="1692600" cy="14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Class balance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BERT embeddings + XGBOOST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907425" y="2793950"/>
            <a:ext cx="1692600" cy="14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High accuracy 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Model generalizability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idx="1" type="subTitle"/>
          </p:nvPr>
        </p:nvSpPr>
        <p:spPr>
          <a:xfrm>
            <a:off x="340125" y="315206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Questions?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" name="Google Shape;150;p20"/>
          <p:cNvSpPr txBox="1"/>
          <p:nvPr>
            <p:ph type="title"/>
          </p:nvPr>
        </p:nvSpPr>
        <p:spPr>
          <a:xfrm>
            <a:off x="1127475" y="1080425"/>
            <a:ext cx="6945900" cy="11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idx="1" type="subTitle"/>
          </p:nvPr>
        </p:nvSpPr>
        <p:spPr>
          <a:xfrm>
            <a:off x="358600" y="280688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References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" name="Google Shape;156;p21"/>
          <p:cNvSpPr txBox="1"/>
          <p:nvPr>
            <p:ph idx="1" type="subTitle"/>
          </p:nvPr>
        </p:nvSpPr>
        <p:spPr>
          <a:xfrm>
            <a:off x="500425" y="80445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Ali Habibullah, KAChallenges, and Mohamed Eltayeb. KAChallenges Series 1: Classifying Math Problems. https://kaggle.com/competitions/classification-of-math-problems-by-kasut-academy, 2025. Kaggle.</a:t>
            </a:r>
            <a:endParaRPr sz="1100"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Grévisse, Christian, Claude Braun, and José Batista da Costa. 2025. "AutoTag &amp; TagMap: LLM-Powered Moodle Plugins for Pedagogical Alignment Checks." SN Computer Science 6 (7): 813. https://doi.org/10.1007/s42979-025-04348-9. https://doi.org/10.1007/s42979-025-04348-9.</a:t>
            </a:r>
            <a:endParaRPr sz="1100"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Lee, Hyun Seung, Seungtaek Choi, Yunsung Lee, Hyeongdon Moon, Shinhyeok Oh, Myeongho Jeong, Hyojun Go, and Christian Wallraven. 2023. “Cross Encoding as Augmentation: Towards Effective Educational Text Classification”. In , 2184–95. </a:t>
            </a:r>
            <a:r>
              <a:rPr lang="en" sz="11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https://doi.org/10.18653/v1/2023.findings-acl.137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Mansouri, Behrooz, Shaurya Rohatgi, Douglas W. Oard, Jian Wu, C. Lee Giles, and Richard Zanibbi. "Tangent-CFT: An embedding model for mathematical formulas." In </a:t>
            </a:r>
            <a:r>
              <a:rPr i="1" lang="en" sz="1100">
                <a:solidFill>
                  <a:schemeClr val="dk1"/>
                </a:solidFill>
              </a:rPr>
              <a:t>Proceedings of the 2019 ACM SIGIR international conference on theory of information retrieval</a:t>
            </a:r>
            <a:r>
              <a:rPr lang="en" sz="1100">
                <a:solidFill>
                  <a:schemeClr val="dk1"/>
                </a:solidFill>
              </a:rPr>
              <a:t>, pp. 11-18. 2019.</a:t>
            </a:r>
            <a:endParaRPr sz="1100"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Oubalahcen, Houda, Lahcen Tamym, and Mou lay Driss El Ouadghiri. 2023. "The Use of AI in E-Learning Recommender Systems: A Comprehensive Survey."</a:t>
            </a:r>
            <a:r>
              <a:rPr i="1" lang="en" sz="1100">
                <a:solidFill>
                  <a:schemeClr val="dk1"/>
                </a:solidFill>
              </a:rPr>
              <a:t> Procedia Computer Science </a:t>
            </a:r>
            <a:r>
              <a:rPr lang="en" sz="1100">
                <a:solidFill>
                  <a:schemeClr val="dk1"/>
                </a:solidFill>
              </a:rPr>
              <a:t>224: 437-442. https://doi.org/https://doi.org/10.1016/j.procs.2023.09.061. </a:t>
            </a:r>
            <a:r>
              <a:rPr lang="en" sz="11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https://www.sciencedirect.com/science/article/pii/S1877050923011080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Peng, Shuai, Ke Yuan, Liangcai Gao, and Zhi Tang. "Mathbert: A pre-trained model for mathematical formula understanding." </a:t>
            </a:r>
            <a:r>
              <a:rPr i="1" lang="en" sz="1100">
                <a:solidFill>
                  <a:schemeClr val="dk1"/>
                </a:solidFill>
              </a:rPr>
              <a:t>arXiv </a:t>
            </a:r>
            <a:r>
              <a:rPr lang="en" sz="1100">
                <a:solidFill>
                  <a:schemeClr val="dk1"/>
                </a:solidFill>
              </a:rPr>
              <a:t>preprint arXiv:2105.00377 (2021).</a:t>
            </a:r>
            <a:endParaRPr sz="1100"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Wang, Xiaolu, Ziqi Ding, and Liangyu Chen. "Automatic tagging of knowledge points for k12 math problems." </a:t>
            </a:r>
            <a:r>
              <a:rPr i="1" lang="en" sz="1100">
                <a:solidFill>
                  <a:schemeClr val="dk1"/>
                </a:solidFill>
              </a:rPr>
              <a:t>arXiv </a:t>
            </a:r>
            <a:r>
              <a:rPr lang="en" sz="1100">
                <a:solidFill>
                  <a:schemeClr val="dk1"/>
                </a:solidFill>
              </a:rPr>
              <a:t>preprint arXiv:2208.09867 (2022).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662E91"/>
      </a:dk2>
      <a:lt2>
        <a:srgbClr val="DCB6FA"/>
      </a:lt2>
      <a:accent1>
        <a:srgbClr val="EC3F62"/>
      </a:accent1>
      <a:accent2>
        <a:srgbClr val="415598"/>
      </a:accent2>
      <a:accent3>
        <a:srgbClr val="F25763"/>
      </a:accent3>
      <a:accent4>
        <a:srgbClr val="177E89"/>
      </a:accent4>
      <a:accent5>
        <a:srgbClr val="F7C59F"/>
      </a:accent5>
      <a:accent6>
        <a:srgbClr val="9A567E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